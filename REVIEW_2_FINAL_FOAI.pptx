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4" r:id="rId7"/>
    <p:sldId id="272" r:id="rId8"/>
    <p:sldId id="273" r:id="rId9"/>
    <p:sldId id="260" r:id="rId10"/>
    <p:sldId id="268" r:id="rId11"/>
    <p:sldId id="275" r:id="rId12"/>
    <p:sldId id="261" r:id="rId13"/>
    <p:sldId id="262" r:id="rId14"/>
    <p:sldId id="269" r:id="rId15"/>
    <p:sldId id="276" r:id="rId28"/>
    <p:sldId id="263" r:id="rId16"/>
    <p:sldId id="270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00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SENTINEL AI – ENTERPRISE AI GATEWAY</a:t>
            </a:r>
          </a:p>
          <a:p>
            <a:r>
              <a:rPr lang="en-IN" sz="4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REVIEW 2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" y="5183902"/>
            <a:ext cx="420624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Supervisor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Dr. S. Bhuvana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Assistant Professor (SG)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9440" y="5183902"/>
            <a:ext cx="457200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Students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Jeffrey Antony J (241901041)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Joe Benedict A (241901042)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65836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2D343E"/>
                </a:solidFill>
              </a:rPr>
              <a:t>Problem. </a:t>
            </a:r>
            <a:r>
              <a:rPr lang="en-IN" sz="2200" dirty="0">
                <a:solidFill>
                  <a:srgbClr val="2D343E"/>
                </a:solidFill>
              </a:rPr>
              <a:t>Apps call LLM APIs (OpenAI, Gemini, Claude) directly. Repeated or similar prompts are paid for again each time.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2D343E"/>
                </a:solidFill>
              </a:rPr>
              <a:t>Why it matters. </a:t>
            </a:r>
            <a:r>
              <a:rPr lang="en-IN" sz="2200" dirty="0">
                <a:solidFill>
                  <a:srgbClr val="2D343E"/>
                </a:solidFill>
              </a:rPr>
              <a:t>Costs and token use grow with usage. Answers vary between apps. No central view of who uses AI, how, or at what cost.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2D343E"/>
                </a:solidFill>
              </a:rPr>
              <a:t>Who is affected. </a:t>
            </a:r>
            <a:r>
              <a:rPr lang="en-IN" sz="2200" dirty="0">
                <a:solidFill>
                  <a:srgbClr val="2D343E"/>
                </a:solidFill>
              </a:rPr>
              <a:t>Organisations running LLM applications at scale: developers, IT and security teams, and budget owners.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2D343E"/>
                </a:solidFill>
              </a:rPr>
              <a:t>Motivation. </a:t>
            </a:r>
            <a:r>
              <a:rPr lang="en-IN" sz="2200" dirty="0">
                <a:solidFill>
                  <a:srgbClr val="2D343E"/>
                </a:solidFill>
              </a:rPr>
              <a:t>A central AI gateway that reuses verified responses can cut redundant calls, cost and inconsistency, while adding governance.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Develop a centralised AI gateway for enterprise applications.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Reduce unnecessary LLM API calls using Enterprise Memory Intelligence.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Improve response consistency by reusing verified AI responses.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Reduce API costs and token consumption.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Provide organisation-based AI management and policy enforcement.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Monitor AI usage through centralised analytics.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Maintain audit logs for all AI interactions.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Support secure and scalable integration with multiple LLM providers.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700" b="1" dirty="0">
                <a:solidFill>
                  <a:srgbClr val="193054"/>
                </a:solidFill>
              </a:rPr>
              <a:t>Measured by: </a:t>
            </a:r>
            <a:r>
              <a:rPr lang="en-IN" sz="1700" dirty="0">
                <a:solidFill>
                  <a:srgbClr val="2D343E"/>
                </a:solidFill>
              </a:rPr>
              <a:t>API-call count, memory-hit rate, response time, tokens and cost, against a baseline.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1700" b="1" dirty="0">
                <a:solidFill>
                  <a:srgbClr val="193054"/>
                </a:solidFill>
              </a:rPr>
              <a:t>Completed so far: </a:t>
            </a:r>
            <a:r>
              <a:rPr lang="en-IN" sz="1700" dirty="0">
                <a:solidFill>
                  <a:srgbClr val="2D343E"/>
                </a:solidFill>
              </a:rPr>
              <a:t>gateway design and the five core modules. Implementation and measurement are pending.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Project Progress Since Review 1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rgbClr val="193054"/>
                </a:solidFill>
              </a:rPr>
              <a:t>Completed at Review 1 (08.09.2026)</a:t>
            </a:r>
          </a:p>
          <a:p>
            <a:pPr marL="342900" indent="-342900">
              <a:spcAft>
                <a:spcPts val="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Literature survey</a:t>
            </a:r>
          </a:p>
          <a:p>
            <a:pPr marL="342900" indent="-342900">
              <a:spcAft>
                <a:spcPts val="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Problem identification</a:t>
            </a:r>
          </a:p>
          <a:p>
            <a:pPr marL="342900" indent="-342900">
              <a:spcAft>
                <a:spcPts val="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Requirement analysis and methodology finalised</a:t>
            </a:r>
          </a:p>
          <a:p>
            <a:pPr marL="342900" indent="-342900">
              <a:spcAft>
                <a:spcPts val="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Proposed architecture and five core modules defined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2000" b="1" dirty="0">
                <a:solidFill>
                  <a:srgbClr val="193054"/>
                </a:solidFill>
              </a:rPr>
              <a:t>Pending at Review 1</a:t>
            </a:r>
          </a:p>
          <a:p>
            <a:pPr marL="342900" indent="-342900">
              <a:spcAft>
                <a:spcPts val="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Implementation</a:t>
            </a:r>
          </a:p>
          <a:p>
            <a:pPr marL="342900" indent="-342900">
              <a:spcAft>
                <a:spcPts val="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Testing</a:t>
            </a:r>
          </a:p>
          <a:p>
            <a:pPr marL="342900" indent="-342900">
              <a:spcAft>
                <a:spcPts val="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Final evaluation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2000" b="1" dirty="0">
                <a:solidFill>
                  <a:srgbClr val="193054"/>
                </a:solidFill>
              </a:rPr>
              <a:t>Work completed since Review 1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i="1" dirty="0">
                <a:solidFill>
                  <a:srgbClr val="CC0000"/>
                </a:solidFill>
              </a:rPr>
              <a:t>[Team to add: modules built, milestones reached, current implementation status]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29797"/>
              </p:ext>
            </p:extLst>
          </p:nvPr>
        </p:nvGraphicFramePr>
        <p:xfrm>
          <a:off x="621792" y="178308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Lewis, P. et al. (2020)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Retrieval-Augmented Generation for Knowledge-Intensive NLP Tasks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Retrieval-Augmented Generation (RAG)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Focuses on retrieval; gives no enterprise-wide response governance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Willison, S. (2023)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Prompt Injection Attacks Against Large Language Models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Prompt-injection analysis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Addresses attack patterns, not centralised enterprise management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Chase, H. (2023)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LangChain: Building LLM Applications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LLM orchestration framework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Orchestration alone lacks memory, governance and cost control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234421"/>
              </p:ext>
            </p:extLst>
          </p:nvPr>
        </p:nvGraphicFramePr>
        <p:xfrm>
          <a:off x="621792" y="1783080"/>
          <a:ext cx="110916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OpenAI (2023)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GPT-4 Technical Report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Large pretrained model (technical report)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Contextual reference; not a gateway or response-reuse design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5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Anthropic (2022)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Constitutional AI: Harmlessness from AI Feedback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AI-feedback training (Constitutional AI)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Contextual reference; addresses model behaviour, not enterprise control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916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 Research Gap and Project Response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37360"/>
            <a:ext cx="512064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IN" sz="1700" b="1" dirty="0">
                <a:solidFill>
                  <a:srgbClr val="193054"/>
                </a:solidFill>
              </a:rPr>
              <a:t>1. Literature findings</a:t>
            </a:r>
          </a:p>
          <a:p>
            <a:pPr marL="0" indent="0" algn="l">
              <a:buNone/>
            </a:pPr>
            <a:r>
              <a:rPr lang="en-IN" sz="1400" dirty="0">
                <a:solidFill>
                  <a:srgbClr val="2D343E"/>
                </a:solidFill>
              </a:rPr>
              <a:t>RAG grounds LLM answers in external data. Prompt-injection work shows untrusted input can steer LLM systems. LangChain simplifies building LLM applications.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172200" y="1737360"/>
            <a:ext cx="525780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IN" sz="1700" b="1" dirty="0">
                <a:solidFill>
                  <a:srgbClr val="193054"/>
                </a:solidFill>
              </a:rPr>
              <a:t>2. Limitations</a:t>
            </a:r>
          </a:p>
          <a:p>
            <a:pPr marL="0" indent="0" algn="l">
              <a:buNone/>
            </a:pPr>
            <a:r>
              <a:rPr lang="en-IN" sz="1400" dirty="0">
                <a:solidFill>
                  <a:srgbClr val="2D343E"/>
                </a:solidFill>
              </a:rPr>
              <a:t>RAG gives no enterprise-wide governance. Injection analysis covers attacks, not central management. Orchestration lacks memory, policy and cost control.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58952" y="3794760"/>
            <a:ext cx="512064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IN" sz="1700" b="1" dirty="0">
                <a:solidFill>
                  <a:srgbClr val="193054"/>
                </a:solidFill>
              </a:rPr>
              <a:t>3. Refined research gap</a:t>
            </a:r>
          </a:p>
          <a:p>
            <a:pPr marL="0" indent="0" algn="l">
              <a:buNone/>
            </a:pPr>
            <a:r>
              <a:rPr lang="en-IN" sz="1400" dirty="0">
                <a:solidFill>
                  <a:srgbClr val="2D343E"/>
                </a:solidFill>
              </a:rPr>
              <a:t>No shared gateway that reuses verified responses, enforces organisation policy, and audits and tracks cost across several applications and LLM providers.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172200" y="3794760"/>
            <a:ext cx="525780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IN" sz="1700" b="1" dirty="0">
                <a:solidFill>
                  <a:srgbClr val="193054"/>
                </a:solidFill>
              </a:rPr>
              <a:t>4. Progress toward the solution</a:t>
            </a:r>
          </a:p>
          <a:p>
            <a:pPr marL="0" indent="0" algn="l">
              <a:buNone/>
            </a:pPr>
            <a:r>
              <a:rPr lang="en-IN" sz="1400" dirty="0">
                <a:solidFill>
                  <a:srgbClr val="2D343E"/>
                </a:solidFill>
              </a:rPr>
              <a:t>Gateway architecture, request flow, threat model and five core modules are defined. Memory-decision logic is specified. Implementation is pending.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System Architecture / Proposed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5852160" cy="5486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400" dirty="0">
                <a:solidFill>
                  <a:srgbClr val="2D343E"/>
                </a:solidFill>
              </a:rPr>
              <a:t>Enterprise applications and users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85032" y="2331720"/>
            <a:ext cx="0" cy="27432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58952" y="2606040"/>
            <a:ext cx="5852160" cy="2286000"/>
          </a:xfrm>
          <a:prstGeom prst="rect">
            <a:avLst/>
          </a:prstGeom>
          <a:solidFill>
            <a:srgbClr val="FDF3F3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>
              <a:buNone/>
            </a:pPr>
            <a:r>
              <a:rPr lang="en-IN" sz="1000" dirty="0">
                <a:solidFill>
                  <a:srgbClr val="2D343E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400" b="1" dirty="0">
                <a:solidFill>
                  <a:srgbClr val="CC0000"/>
                </a:solidFill>
              </a:rPr>
              <a:t>SentinelAI AI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632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Authentication and organisation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0632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Enterprise Memory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0632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AI gateway and provider 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9319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Audit logging and usage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9319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Governance, cost monitoring and dashboard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85032" y="4892040"/>
            <a:ext cx="0" cy="32004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8952" y="5212080"/>
            <a:ext cx="5852160" cy="5486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400" dirty="0">
                <a:solidFill>
                  <a:srgbClr val="2D343E"/>
                </a:solidFill>
              </a:rPr>
              <a:t>LLM providers: OpenAI, Google Gemini, Anthropic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828800"/>
            <a:ext cx="448056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700" b="1" dirty="0">
                <a:solidFill>
                  <a:srgbClr val="193054"/>
                </a:solidFill>
              </a:rPr>
              <a:t>Improvements over the existing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31720"/>
            <a:ext cx="4480560" cy="3291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600" dirty="0">
                <a:solidFill>
                  <a:srgbClr val="2D343E"/>
                </a:solidFill>
              </a:rPr>
              <a:t>One gateway replaces direct app-to-LLM calls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600" dirty="0">
                <a:solidFill>
                  <a:srgbClr val="2D343E"/>
                </a:solidFill>
              </a:rPr>
              <a:t>Memory reuse of verified responses cuts API calls and token use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600" dirty="0">
                <a:solidFill>
                  <a:srgbClr val="2D343E"/>
                </a:solidFill>
              </a:rPr>
              <a:t>Central authentication, organisation policy and audit logs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600" dirty="0">
                <a:solidFill>
                  <a:srgbClr val="2D343E"/>
                </a:solidFill>
              </a:rPr>
              <a:t>Usage analytics and cost monitoring in one dashboard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600" dirty="0">
                <a:solidFill>
                  <a:srgbClr val="2D343E"/>
                </a:solidFill>
              </a:rPr>
              <a:t>Routing across OpenAI, Gemini and Claude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1400" i="1" dirty="0">
                <a:solidFill>
                  <a:srgbClr val="5A6470"/>
                </a:solidFill>
              </a:rPr>
              <a:t>These gains are expected; measurement is pending.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58952" y="2606040"/>
            <a:ext cx="210312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900" dirty="0">
                <a:solidFill>
                  <a:srgbClr val="5A6470"/>
                </a:solidFill>
              </a:rPr>
              <a:t>EXTERNAL ENTITY</a:t>
            </a:r>
          </a:p>
          <a:p>
            <a:pPr marL="0" indent="0" algn="ctr">
              <a:buNone/>
            </a:pPr>
            <a:r>
              <a:rPr lang="en-IN" sz="1400" dirty="0">
                <a:solidFill>
                  <a:srgbClr val="2D343E"/>
                </a:solidFill>
              </a:rPr>
              <a:t>Enterprise app /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37744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DF3F3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600" dirty="0">
                <a:solidFill>
                  <a:srgbClr val="CC0000"/>
                </a:solidFill>
              </a:rPr>
              <a:t>0  SentinelAI Gateway</a:t>
            </a:r>
          </a:p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Authentication, memory check, routing,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606040"/>
            <a:ext cx="22860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900" dirty="0">
                <a:solidFill>
                  <a:srgbClr val="5A6470"/>
                </a:solidFill>
              </a:rPr>
              <a:t>EXTERNAL ENTITY</a:t>
            </a:r>
          </a:p>
          <a:p>
            <a:pPr marL="0" indent="0" algn="ctr">
              <a:buNone/>
            </a:pPr>
            <a:r>
              <a:rPr lang="en-IN" sz="1300" dirty="0">
                <a:solidFill>
                  <a:srgbClr val="2D343E"/>
                </a:solidFill>
              </a:rPr>
              <a:t>LLM providers (OpenAI, Gemini, Claude)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754880"/>
            <a:ext cx="2743200" cy="822960"/>
          </a:xfrm>
          <a:prstGeom prst="rect">
            <a:avLst/>
          </a:prstGeom>
          <a:solidFill>
            <a:srgbClr val="F7F9FC"/>
          </a:solidFill>
          <a:ln w="12700">
            <a:solidFill>
              <a:srgbClr val="2D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900" dirty="0">
                <a:solidFill>
                  <a:srgbClr val="5A6470"/>
                </a:solidFill>
              </a:rPr>
              <a:t>DATA STORE</a:t>
            </a:r>
          </a:p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D1  Enterprise memory (verified responses)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754880"/>
            <a:ext cx="2743200" cy="822960"/>
          </a:xfrm>
          <a:prstGeom prst="rect">
            <a:avLst/>
          </a:prstGeom>
          <a:solidFill>
            <a:srgbClr val="F7F9FC"/>
          </a:solidFill>
          <a:ln w="12700">
            <a:solidFill>
              <a:srgbClr val="2D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900" dirty="0">
                <a:solidFill>
                  <a:srgbClr val="5A6470"/>
                </a:solidFill>
              </a:rPr>
              <a:t>DATA STORE</a:t>
            </a:r>
          </a:p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D2  Audit and usage store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62072" y="2926080"/>
            <a:ext cx="1709928" cy="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62072" y="2487168"/>
            <a:ext cx="1709928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100" b="1" dirty="0">
                <a:solidFill>
                  <a:srgbClr val="2D343E"/>
                </a:solidFill>
              </a:rPr>
              <a:t>1 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2926080"/>
            <a:ext cx="2011680" cy="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0" y="2487168"/>
            <a:ext cx="20116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100" b="1" dirty="0">
                <a:solidFill>
                  <a:srgbClr val="2D343E"/>
                </a:solidFill>
              </a:rPr>
              <a:t>2  Prompt (cache miss)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315200" y="3474720"/>
            <a:ext cx="2011680" cy="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0" y="3538728"/>
            <a:ext cx="20116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100" b="1" dirty="0">
                <a:solidFill>
                  <a:srgbClr val="2D343E"/>
                </a:solidFill>
              </a:rPr>
              <a:t>3  LLM response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862072" y="3474720"/>
            <a:ext cx="1709928" cy="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62072" y="3538728"/>
            <a:ext cx="1709928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100" b="1" dirty="0">
                <a:solidFill>
                  <a:srgbClr val="2D343E"/>
                </a:solidFill>
              </a:rPr>
              <a:t>4  Response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4023360"/>
            <a:ext cx="0" cy="731520"/>
          </a:xfrm>
          <a:prstGeom prst="line">
            <a:avLst/>
          </a:prstGeom>
          <a:ln w="19050">
            <a:solidFill>
              <a:srgbClr val="5A647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37760" y="4114800"/>
            <a:ext cx="118872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100" b="1" dirty="0">
                <a:solidFill>
                  <a:srgbClr val="2D343E"/>
                </a:solidFill>
              </a:rPr>
              <a:t>5  Lookup / store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0" y="4023360"/>
            <a:ext cx="0" cy="73152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23760" y="4114800"/>
            <a:ext cx="1554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100" b="1" dirty="0">
                <a:solidFill>
                  <a:srgbClr val="2D343E"/>
                </a:solidFill>
              </a:rPr>
              <a:t>6  Audit and usage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760720"/>
            <a:ext cx="10671048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200" i="1" dirty="0">
                <a:solidFill>
                  <a:srgbClr val="5A6470"/>
                </a:solidFill>
              </a:rPr>
              <a:t>Context-level (Level 0) view. Module-level breakdown is on slides 12 to 14.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 / Workflow Diagram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1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Request intake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Request arrives from an app or user; input is checked.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3063240"/>
            <a:ext cx="219455" cy="0"/>
          </a:xfrm>
          <a:prstGeom prst="line">
            <a:avLst/>
          </a:prstGeom>
          <a:ln w="22225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9464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2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Auth and policy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Caller and organisation identified; policy applied.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42231" y="3063240"/>
            <a:ext cx="219457" cy="0"/>
          </a:xfrm>
          <a:prstGeom prst="line">
            <a:avLst/>
          </a:prstGeom>
          <a:ln w="22225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79976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3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Memory matching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Organisation-scoped search for a similar verified response.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2744" y="3063240"/>
            <a:ext cx="219456" cy="0"/>
          </a:xfrm>
          <a:prstGeom prst="line">
            <a:avLst/>
          </a:prstGeom>
          <a:ln w="22225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90488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4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LLM routing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Cache miss sent to the selected provider.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63255" y="3063240"/>
            <a:ext cx="219456" cy="0"/>
          </a:xfrm>
          <a:prstGeom prst="line">
            <a:avLst/>
          </a:prstGeom>
          <a:ln w="22225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01000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5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Validation and analytics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Response validated; usage, latency and cost recorded.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73767" y="3063240"/>
            <a:ext cx="219457" cy="0"/>
          </a:xfrm>
          <a:prstGeom prst="line">
            <a:avLst/>
          </a:prstGeom>
          <a:ln w="22225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11512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6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Store and deliver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Verified response stored for reuse; reply returned.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526280"/>
            <a:ext cx="10671048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193054"/>
                </a:solidFill>
              </a:rPr>
              <a:t>Memory hit: </a:t>
            </a:r>
            <a:r>
              <a:rPr lang="en-IN" sz="1600" dirty="0">
                <a:solidFill>
                  <a:srgbClr val="2D343E"/>
                </a:solidFill>
              </a:rPr>
              <a:t>step 3 returns the stored verified response and skips step 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120640"/>
            <a:ext cx="10671048" cy="7315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500" b="1" dirty="0">
                <a:solidFill>
                  <a:srgbClr val="193054"/>
                </a:solidFill>
              </a:rPr>
              <a:t>Project phases: </a:t>
            </a:r>
            <a:r>
              <a:rPr lang="en-IN" sz="1500" dirty="0">
                <a:solidFill>
                  <a:srgbClr val="2D343E"/>
                </a:solidFill>
              </a:rPr>
              <a:t>Literature survey (done), Design (done), Implementation (pending), Testing (pending), Evaluation (pending)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Programming language(s): </a:t>
            </a:r>
            <a:r>
              <a:rPr lang="en-IN" sz="1800" dirty="0">
                <a:solidFill>
                  <a:srgbClr val="2D343E"/>
                </a:solidFill>
              </a:rPr>
              <a:t>Python 3.13+ for backend and gateway logic.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Frameworks / libraries: </a:t>
            </a:r>
            <a:r>
              <a:rPr lang="en-IN" sz="1800" dirty="0">
                <a:solidFill>
                  <a:srgbClr val="2D343E"/>
                </a:solidFill>
              </a:rPr>
              <a:t>Django and Django REST Framework (API layer); React.js with Bun (dashboard UI).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Software / hardware / dataset: </a:t>
            </a:r>
            <a:r>
              <a:rPr lang="en-IN" sz="1800" dirty="0">
                <a:solidFill>
                  <a:srgbClr val="2D343E"/>
                </a:solidFill>
              </a:rPr>
              <a:t>Windows 11; PostgreSQL or SQLite (final choice pending); Postman; Git and GitHub; OpenAI, Gemini and Claude APIs. Hardware: Intel Core i5 or above, 8 GB RAM, 256 GB SSD, stable internet. No training dataset; the system routes live requests.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Why these: </a:t>
            </a:r>
            <a:r>
              <a:rPr lang="en-IN" sz="1800" dirty="0">
                <a:solidFill>
                  <a:srgbClr val="2D343E"/>
                </a:solidFill>
              </a:rPr>
              <a:t>Python and Django give fast, secure API development with built-in authentication. DRF provides the REST endpoints. React suits the dashboard. PostgreSQL handles multi-tenant data at scale; SQLite is for development. Postman tests endpoints; Git supports teamwork.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783080"/>
          <a:ext cx="10671048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5001768"/>
                <a:gridCol w="20116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500" dirty="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500" dirty="0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500" dirty="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1. Authentication &amp; Organisation Management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Authenticate users or applications; resolve organisation; apply access rules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Pending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2. Enterprise Memory Intelligence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Find similar verified responses; decide reuse; manage stored entries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Pending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3. AI Gateway &amp; Provider Management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Route cache misses to OpenAI, Gemini or Claude; handle responses and errors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Pending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4. Audit Logging &amp; Usage Analytics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Record request outcomes and usage; aggregate activity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Pending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5. Governance, Cost Monitoring &amp; Dashboard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Show cost-oriented views and central governance controls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Pending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" y="5257800"/>
            <a:ext cx="10671048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200" i="1" dirty="0">
                <a:solidFill>
                  <a:srgbClr val="5A6470"/>
                </a:solidFill>
              </a:rPr>
              <a:t>Status as at Review 1 (08.09.2026).</a:t>
            </a:r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Implementation – Part 1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rgbClr val="193054"/>
                </a:solidFill>
              </a:rPr>
              <a:t>Module 1: Authentication &amp; Organisation Management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Purpose: </a:t>
            </a:r>
            <a:r>
              <a:rPr lang="en-IN" sz="1800" dirty="0">
                <a:solidFill>
                  <a:srgbClr val="2D343E"/>
                </a:solidFill>
              </a:rPr>
              <a:t>verify each caller and its organisation; apply access rules.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Input / output: </a:t>
            </a:r>
            <a:r>
              <a:rPr lang="en-IN" sz="1800" dirty="0">
                <a:solidFill>
                  <a:srgbClr val="2D343E"/>
                </a:solidFill>
              </a:rPr>
              <a:t>credentials or access context in; authenticated identity and organisation scope out.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IN" sz="2000" b="1" dirty="0">
                <a:solidFill>
                  <a:srgbClr val="193054"/>
                </a:solidFill>
              </a:rPr>
              <a:t>Module 2: Enterprise Memory Intelligence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Purpose: </a:t>
            </a:r>
            <a:r>
              <a:rPr lang="en-IN" sz="1800" dirty="0">
                <a:solidFill>
                  <a:srgbClr val="2D343E"/>
                </a:solidFill>
              </a:rPr>
              <a:t>find a similar verified response and decide whether it can be reused.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Input / output: </a:t>
            </a:r>
            <a:r>
              <a:rPr lang="en-IN" sz="1800" dirty="0">
                <a:solidFill>
                  <a:srgbClr val="2D343E"/>
                </a:solidFill>
              </a:rPr>
              <a:t>validated request and organisation context in; match decision and reusable response, or cache miss, out.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Approach: </a:t>
            </a:r>
            <a:r>
              <a:rPr lang="en-IN" sz="1800" dirty="0">
                <a:solidFill>
                  <a:srgbClr val="2D343E"/>
                </a:solidFill>
              </a:rPr>
              <a:t>search only the caller's organisation; reuse only verified, fresh entries; keep verification metadata with each entry.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Status: </a:t>
            </a:r>
            <a:r>
              <a:rPr lang="en-IN" sz="1800" dirty="0">
                <a:solidFill>
                  <a:srgbClr val="2D343E"/>
                </a:solidFill>
              </a:rPr>
              <a:t>designed at Review 1; implementation pending. Planned tests: denied access, tenant isolation, hit and miss accuracy.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Implementation – Part 2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rgbClr val="193054"/>
                </a:solidFill>
              </a:rPr>
              <a:t>Module 3: AI Gateway &amp; Provider Management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Purpose: </a:t>
            </a:r>
            <a:r>
              <a:rPr lang="en-IN" sz="1800" dirty="0">
                <a:solidFill>
                  <a:srgbClr val="2D343E"/>
                </a:solidFill>
              </a:rPr>
              <a:t>route cache misses to the selected LLM (OpenAI, Gemini or Claude); handle responses and errors.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Input / output: </a:t>
            </a:r>
            <a:r>
              <a:rPr lang="en-IN" sz="1800" dirty="0">
                <a:solidFill>
                  <a:srgbClr val="2D343E"/>
                </a:solidFill>
              </a:rPr>
              <a:t>eligible request and provider choice in; provider response or error out.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IN" sz="2000" b="1" dirty="0">
                <a:solidFill>
                  <a:srgbClr val="193054"/>
                </a:solidFill>
              </a:rPr>
              <a:t>Module 4: Audit Logging &amp; Usage Analytics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Purpose: </a:t>
            </a:r>
            <a:r>
              <a:rPr lang="en-IN" sz="1800" dirty="0">
                <a:solidFill>
                  <a:srgbClr val="2D343E"/>
                </a:solidFill>
              </a:rPr>
              <a:t>record outcome, provider, timing and usage for each request; aggregate activity.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Input / output: </a:t>
            </a:r>
            <a:r>
              <a:rPr lang="en-IN" sz="1800" dirty="0">
                <a:solidFill>
                  <a:srgbClr val="2D343E"/>
                </a:solidFill>
              </a:rPr>
              <a:t>gateway events in; audit entries and analytics data out.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IN" sz="2000" b="1" dirty="0">
                <a:solidFill>
                  <a:srgbClr val="193054"/>
                </a:solidFill>
              </a:rPr>
              <a:t>Module 5: Governance, Cost Monitoring &amp; Dashboard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Purpose: </a:t>
            </a:r>
            <a:r>
              <a:rPr lang="en-IN" sz="1800" dirty="0">
                <a:solidFill>
                  <a:srgbClr val="2D343E"/>
                </a:solidFill>
              </a:rPr>
              <a:t>show cost-oriented views and central management controls.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Input / output: </a:t>
            </a:r>
            <a:r>
              <a:rPr lang="en-IN" sz="1800" dirty="0">
                <a:solidFill>
                  <a:srgbClr val="2D343E"/>
                </a:solidFill>
              </a:rPr>
              <a:t>usage and audit aggregates in; dashboard views out.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Status: </a:t>
            </a:r>
            <a:r>
              <a:rPr lang="en-IN" sz="1800" dirty="0">
                <a:solidFill>
                  <a:srgbClr val="2D343E"/>
                </a:solidFill>
              </a:rPr>
              <a:t>all three pending; no test observations yet.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Preliminary Results and Discussion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10671048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500" b="1" dirty="0">
                <a:solidFill>
                  <a:srgbClr val="CC0000"/>
                </a:solidFill>
              </a:rPr>
              <a:t>No measured results yet. </a:t>
            </a:r>
            <a:r>
              <a:rPr lang="en-IN" sz="1500" dirty="0">
                <a:solidFill>
                  <a:srgbClr val="2D343E"/>
                </a:solidFill>
              </a:rPr>
              <a:t>Testing was pending at Review 1. Each row shows how the result will be measured.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" y="2240280"/>
          <a:ext cx="10671048" cy="31272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5029200"/>
                <a:gridCol w="2990088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How it will be measured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Evidence so far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Memory reuse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Submit repeated and similar prompts; compute memory-hit 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Design only; no hit rate yet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Provider-call reduction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Compare call counts with memory on and off, same test set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Expected benefit; no counts yet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Response latency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Time cache hits against provider responses, same environment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Expected faster repeats; no values yet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Token and cost impact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Collect provider usage; apply a stated price basis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Expected reduction; no totals yet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Response suitability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Check that a hit is relevant and passes verification policy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Policy not yet specified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Security and tenant isolation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Test denied access, organisation boundaries, prompt risks, audit completeness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Identified; testing pending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" y="5394960"/>
            <a:ext cx="10671048" cy="6858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400" b="1" dirty="0">
                <a:solidFill>
                  <a:srgbClr val="193054"/>
                </a:solidFill>
              </a:rPr>
              <a:t>Discussion: </a:t>
            </a:r>
            <a:r>
              <a:rPr lang="en-IN" sz="1400" dirty="0">
                <a:solidFill>
                  <a:srgbClr val="2D343E"/>
                </a:solidFill>
              </a:rPr>
              <a:t>a false or stale match harms answer quality, and a lookup that ignores organisation scope can leak data. Speed and cost tests must be paired with correctness and security tests.</a:t>
            </a:r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B9F7-E796-4F54-83AC-54CFC2AB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IN" sz="2000" b="1" dirty="0">
                <a:solidFill>
                  <a:srgbClr val="CC0000"/>
                </a:solidFill>
              </a:rPr>
              <a:t>Screenshots pending. </a:t>
            </a:r>
            <a:r>
              <a:rPr lang="en-IN" sz="2000" dirty="0">
                <a:solidFill>
                  <a:srgbClr val="2D343E"/>
                </a:solidFill>
              </a:rPr>
              <a:t>The implementation was not complete at Review 1, so no captured screens are included yet.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IN" sz="1800" b="1" dirty="0">
                <a:solidFill>
                  <a:srgbClr val="193054"/>
                </a:solidFill>
              </a:rPr>
              <a:t>Planned views to capture: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Organisation dashboard: usage and activity at organisation level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Cost and analytics view: request counts, tokens, estimated cost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Memory view: memory hit and miss outcomes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Audit log view: request outcome, provider, timing</a:t>
            </a:r>
          </a:p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Organisation and user management</a:t>
            </a:r>
          </a:p>
          <a:p>
            <a:pPr marL="0" indent="0">
              <a:buNone/>
            </a:pPr>
            <a:r>
              <a:rPr lang="en-IN" sz="1600" i="1" dirty="0">
                <a:solidFill>
                  <a:srgbClr val="5A6470"/>
                </a:solidFill>
              </a:rPr>
              <a:t>Each screenshot will carry a short caption stating what it shows.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Challenges Faced and Solutions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</a:pPr>
            <a:r>
              <a:rPr lang="en-IN" sz="1600" i="1" dirty="0">
                <a:solidFill>
                  <a:srgbClr val="5A6470"/>
                </a:solidFill>
              </a:rPr>
              <a:t>Challenges identified in design; implementation will confirm them.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Stale or false memory match: </a:t>
            </a:r>
            <a:r>
              <a:rPr lang="en-IN" sz="1800" dirty="0">
                <a:solidFill>
                  <a:srgbClr val="2D343E"/>
                </a:solidFill>
              </a:rPr>
              <a:t>verification criteria, freshness metadata, expiry and invalidation rules.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Cross-organisation leakage: </a:t>
            </a:r>
            <a:r>
              <a:rPr lang="en-IN" sz="1800" dirty="0">
                <a:solidFill>
                  <a:srgbClr val="2D343E"/>
                </a:solidFill>
              </a:rPr>
              <a:t>tenant-scoped memory keys, access checks and isolation tests.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Prompt injection: </a:t>
            </a:r>
            <a:r>
              <a:rPr lang="en-IN" sz="1800" dirty="0">
                <a:solidFill>
                  <a:srgbClr val="2D343E"/>
                </a:solidFill>
              </a:rPr>
              <a:t>input validation, policy checks and response review before storage.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Provider errors and timeouts: </a:t>
            </a:r>
            <a:r>
              <a:rPr lang="en-IN" sz="1800" dirty="0">
                <a:solidFill>
                  <a:srgbClr val="2D343E"/>
                </a:solidFill>
              </a:rPr>
              <a:t>clear status reporting and failure logs; unverified output is never stored as reusable.</a:t>
            </a:r>
          </a:p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Honest savings figures: </a:t>
            </a:r>
            <a:r>
              <a:rPr lang="en-IN" sz="1800" dirty="0">
                <a:solidFill>
                  <a:srgbClr val="2D343E"/>
                </a:solidFill>
              </a:rPr>
              <a:t>same test set with memory on and off; report measured values only.</a:t>
            </a:r>
          </a:p>
          <a:p>
            <a:pPr marL="0" indent="0">
              <a:buNone/>
            </a:pPr>
            <a:r>
              <a:rPr lang="en-IN" sz="1800" b="1" dirty="0">
                <a:solidFill>
                  <a:srgbClr val="193054"/>
                </a:solidFill>
              </a:rPr>
              <a:t>Remaining issues: </a:t>
            </a:r>
            <a:r>
              <a:rPr lang="en-IN" sz="1800" dirty="0">
                <a:solidFill>
                  <a:srgbClr val="2D343E"/>
                </a:solidFill>
              </a:rPr>
              <a:t>similarity method and threshold not yet chosen; database (PostgreSQL or SQLite) not finalised.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Work Plan Until Final Review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Aft>
                <a:spcPts val="8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900" dirty="0">
                <a:solidFill>
                  <a:srgbClr val="2D343E"/>
                </a:solidFill>
              </a:rPr>
              <a:t>Complete gateway modules: authentication, organisations, provider routing</a:t>
            </a:r>
          </a:p>
          <a:p>
            <a:pPr marL="457200" indent="-457200">
              <a:spcAft>
                <a:spcPts val="8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900" dirty="0">
                <a:solidFill>
                  <a:srgbClr val="2D343E"/>
                </a:solidFill>
              </a:rPr>
              <a:t>Implement Enterprise Memory Intelligence with verification and freshness rules</a:t>
            </a:r>
          </a:p>
          <a:p>
            <a:pPr marL="457200" indent="-457200">
              <a:spcAft>
                <a:spcPts val="8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900" dirty="0">
                <a:solidFill>
                  <a:srgbClr val="2D343E"/>
                </a:solidFill>
              </a:rPr>
              <a:t>Build audit logging, usage analytics and the dashboard</a:t>
            </a:r>
          </a:p>
          <a:p>
            <a:pPr marL="457200" indent="-457200">
              <a:spcAft>
                <a:spcPts val="8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900" dirty="0">
                <a:solidFill>
                  <a:srgbClr val="2D343E"/>
                </a:solidFill>
              </a:rPr>
              <a:t>Test access control, tenant isolation and malformed input</a:t>
            </a:r>
          </a:p>
          <a:p>
            <a:pPr marL="457200" indent="-457200">
              <a:spcAft>
                <a:spcPts val="8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900" dirty="0">
                <a:solidFill>
                  <a:srgbClr val="2D343E"/>
                </a:solidFill>
              </a:rPr>
              <a:t>Run controlled baseline comparisons: API calls, hit rate, latency, tokens, cost</a:t>
            </a:r>
          </a:p>
          <a:p>
            <a:pPr marL="457200" indent="-457200">
              <a:spcAft>
                <a:spcPts val="12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900" dirty="0">
                <a:solidFill>
                  <a:srgbClr val="2D343E"/>
                </a:solidFill>
              </a:rPr>
              <a:t>Final documentation, evaluation and presentation preparation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193054"/>
                </a:solidFill>
              </a:rPr>
              <a:t>Schedule from Review 1: </a:t>
            </a:r>
            <a:r>
              <a:rPr lang="en-IN" sz="1600" dirty="0">
                <a:solidFill>
                  <a:srgbClr val="2D343E"/>
                </a:solidFill>
              </a:rPr>
              <a:t>implementation in Months 2 to 3; testing and evaluation in Months 3 to 4.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</a:pPr>
            <a:r>
              <a:rPr lang="en-IN" sz="1500" dirty="0">
                <a:solidFill>
                  <a:srgbClr val="2D343E"/>
                </a:solidFill>
              </a:rPr>
              <a:t>[1] Lewis, P., et al. (2020). "Retrieval-Augmented Generation for Knowledge-Intensive NLP Tasks." NeurIPS 2020.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1500" dirty="0">
                <a:solidFill>
                  <a:srgbClr val="2D343E"/>
                </a:solidFill>
              </a:rPr>
              <a:t>[2] Willison, S. (2023). "Prompt Injection Attacks Against Large Language Models." Personal Blog / ACL Workshop.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1500" dirty="0">
                <a:solidFill>
                  <a:srgbClr val="2D343E"/>
                </a:solidFill>
              </a:rPr>
              <a:t>[3] Chase, H. (2023). "LangChain: Building LLM Applications." GitHub / LangChain Documentation.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1500" dirty="0">
                <a:solidFill>
                  <a:srgbClr val="2D343E"/>
                </a:solidFill>
              </a:rPr>
              <a:t>[4] OpenAI. (2023). "GPT-4 Technical Report." arXiv:2303.08774.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1500" dirty="0">
                <a:solidFill>
                  <a:srgbClr val="2D343E"/>
                </a:solidFill>
              </a:rPr>
              <a:t>[5] Anthropic. (2022). "Constitutional AI: Harmlessness from AI Feedback." arXiv:2212.08073.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Implementation – Part 3: Request Algorithm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58952" y="1783080"/>
            <a:ext cx="10671048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36576" bIns="36576"/>
          <a:lstStyle/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INPUT: request R, caller identity U, organisation O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1. Authenticate U and resolve O.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2. If authentication fails: reject R, record access outcome.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3. Apply organisation policy and validate R.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4. Search organisation-scoped memory for a similar verified response.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5. If a suitable verified match exists: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       return stored response; record memory hit.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6. Otherwise: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       route R to selected LLM provider.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       validate response and check reuse eligibility.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       if eligible: store response with metadata.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       return response, or a clear error status.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7. Record usage, latency, status and audit metadata.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IN" sz="1400" dirty="0">
                <a:solidFill>
                  <a:srgbClr val="2D343E"/>
                </a:solidFill>
                <a:latin typeface="Courier New"/>
                <a:cs typeface="Courier New"/>
              </a:rPr>
              <a:t>8. Update analytics and cost-monitoring aggregates.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577840"/>
            <a:ext cx="10671048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200" i="1" dirty="0">
                <a:solidFill>
                  <a:srgbClr val="5A6470"/>
                </a:solidFill>
              </a:rPr>
              <a:t>Similarity metric, embedding model and verification rules are still to be chosen during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746</Words>
  <Application>Microsoft Office PowerPoint</Application>
  <PresentationFormat>Widescreen</PresentationFormat>
  <Paragraphs>140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Calibri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2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16</cp:revision>
  <dcterms:modified xsi:type="dcterms:W3CDTF">2026-10-13T06:01:55Z</dcterms:modified>
</cp:coreProperties>
</file>