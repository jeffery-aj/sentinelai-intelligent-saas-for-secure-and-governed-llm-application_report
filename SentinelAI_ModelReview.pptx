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6" r:id="rId28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77" r:id="rId29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SENTINEL AI – ENTERPRISE AI GATEWAY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5183902"/>
            <a:ext cx="4206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Dr. S. Bhuvana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40" y="5183902"/>
            <a:ext cx="457200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Students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Jeffrey Antony J (241901041)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Joe Benedict A (241901042)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65836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Problem. </a:t>
            </a:r>
            <a:r>
              <a:rPr lang="en-IN" sz="2200" dirty="0">
                <a:solidFill>
                  <a:srgbClr val="2D343E"/>
                </a:solidFill>
              </a:rPr>
              <a:t>Apps call LLM APIs (OpenAI, Gemini, Claude) directly. Repeated or similar prompts are paid for again each time.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Why it matters. </a:t>
            </a:r>
            <a:r>
              <a:rPr lang="en-IN" sz="2200" dirty="0">
                <a:solidFill>
                  <a:srgbClr val="2D343E"/>
                </a:solidFill>
              </a:rPr>
              <a:t>Costs and token use grow with usage. Answers vary between apps. No central view of who uses AI, how, or at what cost.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Who is affected. </a:t>
            </a:r>
            <a:r>
              <a:rPr lang="en-IN" sz="2200" dirty="0">
                <a:solidFill>
                  <a:srgbClr val="2D343E"/>
                </a:solidFill>
              </a:rPr>
              <a:t>Organisations running LLM applications at scale: developers, IT and security teams, and budget owners.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2D343E"/>
                </a:solidFill>
              </a:rPr>
              <a:t>Motivation. </a:t>
            </a:r>
            <a:r>
              <a:rPr lang="en-IN" sz="2200" dirty="0">
                <a:solidFill>
                  <a:srgbClr val="2D343E"/>
                </a:solidFill>
              </a:rPr>
              <a:t>A central AI gateway that reuses verified responses can cut redundant calls, cost and inconsistency, while adding governance.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Develop a centralised AI gateway for enterprise applications.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Reduce unnecessary LLM API calls using Enterprise Memory Intelligence.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Improve response consistency by reusing verified AI responses.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Reduce API costs and token consumption.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Provide organisation-based AI management and policy enforcement.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Monitor AI usage through centralised analytics.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Maintain audit logs for all AI interactions.</a:t>
            </a:r>
          </a:p>
          <a:p>
            <a:pPr marL="342900" indent="-342900">
              <a:spcAft>
                <a:spcPts val="4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900" dirty="0">
                <a:solidFill>
                  <a:srgbClr val="2D343E"/>
                </a:solidFill>
              </a:rPr>
              <a:t>Support secure and scalable integration with multiple LLM providers.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700" b="1" dirty="0">
                <a:solidFill>
                  <a:srgbClr val="193054"/>
                </a:solidFill>
              </a:rPr>
              <a:t>Measured by: </a:t>
            </a:r>
            <a:r>
              <a:rPr lang="en-IN" sz="1700" dirty="0">
                <a:solidFill>
                  <a:srgbClr val="2D343E"/>
                </a:solidFill>
              </a:rPr>
              <a:t>API-call count, memory-hit rate, response time, tokens and cost, against a baseline.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solidFill>
                  <a:srgbClr val="193054"/>
                </a:solidFill>
              </a:rPr>
              <a:t>Completed so far: </a:t>
            </a:r>
            <a:r>
              <a:rPr lang="en-IN" sz="1700" dirty="0">
                <a:solidFill>
                  <a:srgbClr val="2D343E"/>
                </a:solidFill>
              </a:rPr>
              <a:t>gateway design, the five core modules and the implementation. Testing and measurement are pending.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1792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Lewis, P. et al. (2020)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Retrieval-Augmented Generation for Knowledge-Intensive NLP Tasks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Retrieval-Augmented Generation (RAG)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Focuses on retrieval; gives no enterprise-wide response governance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Willison, S. 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Prompt Injection Attacks Against Large Language Models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Prompt-injection analysis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Addresses attack patterns, not centralised enterprise management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Chase, H. (2023)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LangChain: Building LLM Applications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LLM orchestration framework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Orchestration alone lacks memory, governance and cost control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621792" y="178308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OpenAI 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GPT-4 Technical Report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Large pretrained model (technical report)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Contextual reference; not a gateway or response-reuse design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5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Anthropic (2022)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Constitutional AI: Harmlessness from AI Feedback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AI-feedback training (Constitutional AI)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Contextual reference; addresses model behaviour, not enterprise control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 / Existing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51206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1. What existing studies do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Direct app-to-LLM calls are the norm. RAG, prompt-injection analysis and LangChain orchestration are studied, each in one narrow area.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172200" y="1737360"/>
            <a:ext cx="52578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2. Limitations observed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Repeated calls raise cost and token use. Governance, audit and usage tracking are scattered. Responses are rarely reused across applications.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58952" y="3794760"/>
            <a:ext cx="51206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3. Research gap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No shared gateway that reuses verified responses under organisation policy, with audit and cost tracking across several LLM providers.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72200" y="3794760"/>
            <a:ext cx="52578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IN" sz="1700" b="1" dirty="0">
                <a:solidFill>
                  <a:srgbClr val="193054"/>
                </a:solidFill>
              </a:rPr>
              <a:t>4. How our project responds</a:t>
            </a:r>
          </a:p>
          <a:p>
            <a:pPr marL="0" indent="0" algn="l">
              <a:buNone/>
            </a:pPr>
            <a:r>
              <a:rPr lang="en-IN" sz="1400" dirty="0">
                <a:solidFill>
                  <a:srgbClr val="2D343E"/>
                </a:solidFill>
              </a:rPr>
              <a:t>SentinelAI adds a gateway with EMI, authentication, organisation policy, provider routing, audit logs, analytics and a cost dashboard. Implementation is complete; testing is pending.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Enterprise applications and users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5032" y="2331720"/>
            <a:ext cx="0" cy="27432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8952" y="2606040"/>
            <a:ext cx="5852160" cy="2286000"/>
          </a:xfrm>
          <a:prstGeom prst="rect">
            <a:avLst/>
          </a:prstGeom>
          <a:solidFill>
            <a:srgbClr val="FDF3F3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>
              <a:buNone/>
            </a:pPr>
            <a:r>
              <a:rPr lang="en-IN" sz="1000" dirty="0">
                <a:solidFill>
                  <a:srgbClr val="2D343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400" b="1" dirty="0">
                <a:solidFill>
                  <a:srgbClr val="CC0000"/>
                </a:solidFill>
              </a:rPr>
              <a:t>SentinelAI AI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Authentication and organisation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Enterprise Memory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0632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AI gateway and provider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9319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Audit logging and usage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9319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Governance, cost monitoring and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85032" y="4892040"/>
            <a:ext cx="0" cy="32004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" y="5212080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LLM providers: OpenAI, Google Gemini, Anthropic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828800"/>
            <a:ext cx="448056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700" b="1" dirty="0">
                <a:solidFill>
                  <a:srgbClr val="193054"/>
                </a:solidFill>
              </a:rPr>
              <a:t>Improvements over the 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31720"/>
            <a:ext cx="4480560" cy="3291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One gateway replaces direct app-to-LLM calls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Memory reuse of verified responses cuts API calls and token use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Central authentication, organisation policy and audit logs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Usage analytics and cost monitoring in one dashboard</a:t>
            </a:r>
          </a:p>
          <a:p>
            <a:pPr marL="342900" indent="-342900">
              <a:spcAft>
                <a:spcPts val="8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600" dirty="0">
                <a:solidFill>
                  <a:srgbClr val="2D343E"/>
                </a:solidFill>
              </a:rPr>
              <a:t>Routing across OpenAI, Gemini and Claude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400" i="1" dirty="0">
                <a:solidFill>
                  <a:srgbClr val="5A6470"/>
                </a:solidFill>
              </a:rPr>
              <a:t>These gains are expected; measurement is pending.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58952" y="2606040"/>
            <a:ext cx="21031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EXTERNAL ENTITY</a:t>
            </a:r>
          </a:p>
          <a:p>
            <a:pPr marL="0" indent="0" algn="ctr">
              <a:buNone/>
            </a:pPr>
            <a:r>
              <a:rPr lang="en-IN" sz="1400" dirty="0">
                <a:solidFill>
                  <a:srgbClr val="2D343E"/>
                </a:solidFill>
              </a:rPr>
              <a:t>Enterprise app 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37744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F3F3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600" dirty="0">
                <a:solidFill>
                  <a:srgbClr val="CC0000"/>
                </a:solidFill>
              </a:rPr>
              <a:t>0  SentinelAI Gateway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Authentication, memory check, routing,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606040"/>
            <a:ext cx="2286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EXTERNAL ENTITY</a:t>
            </a:r>
          </a:p>
          <a:p>
            <a:pPr marL="0" indent="0" algn="ctr">
              <a:buNone/>
            </a:pPr>
            <a:r>
              <a:rPr lang="en-IN" sz="1300" dirty="0">
                <a:solidFill>
                  <a:srgbClr val="2D343E"/>
                </a:solidFill>
              </a:rPr>
              <a:t>LLM providers (OpenAI, Gemini, Claude)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754880"/>
            <a:ext cx="27432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DATA STORE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D1  Enterprise memory (verified responses)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754880"/>
            <a:ext cx="27432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2D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900" dirty="0">
                <a:solidFill>
                  <a:srgbClr val="5A6470"/>
                </a:solidFill>
              </a:rPr>
              <a:t>DATA STORE</a:t>
            </a:r>
          </a:p>
          <a:p>
            <a:pPr marL="0" indent="0" algn="ctr">
              <a:buNone/>
            </a:pPr>
            <a:r>
              <a:rPr lang="en-IN" sz="1200" dirty="0">
                <a:solidFill>
                  <a:srgbClr val="2D343E"/>
                </a:solidFill>
              </a:rPr>
              <a:t>D2  Audit and usage store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072" y="2926080"/>
            <a:ext cx="1709928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62072" y="2487168"/>
            <a:ext cx="170992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1 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2926080"/>
            <a:ext cx="2011680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2487168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2  Prompt (cache miss)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0" y="3474720"/>
            <a:ext cx="2011680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3538728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3  LLM response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862072" y="3474720"/>
            <a:ext cx="1709928" cy="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62072" y="3538728"/>
            <a:ext cx="170992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100" b="1" dirty="0">
                <a:solidFill>
                  <a:srgbClr val="2D343E"/>
                </a:solidFill>
              </a:rPr>
              <a:t>4 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4023360"/>
            <a:ext cx="0" cy="731520"/>
          </a:xfrm>
          <a:prstGeom prst="line">
            <a:avLst/>
          </a:prstGeom>
          <a:ln w="19050">
            <a:solidFill>
              <a:srgbClr val="5A647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4114800"/>
            <a:ext cx="118872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100" b="1" dirty="0">
                <a:solidFill>
                  <a:srgbClr val="2D343E"/>
                </a:solidFill>
              </a:rPr>
              <a:t>5  Lookup / 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4023360"/>
            <a:ext cx="0" cy="731520"/>
          </a:xfrm>
          <a:prstGeom prst="line">
            <a:avLst/>
          </a:prstGeom>
          <a:ln w="19050">
            <a:solidFill>
              <a:srgbClr val="5A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23760" y="4114800"/>
            <a:ext cx="1554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100" b="1" dirty="0">
                <a:solidFill>
                  <a:srgbClr val="2D343E"/>
                </a:solidFill>
              </a:rPr>
              <a:t>6  Audit and usage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60720"/>
            <a:ext cx="1067104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200" i="1" dirty="0">
                <a:solidFill>
                  <a:srgbClr val="5A6470"/>
                </a:solidFill>
              </a:rPr>
              <a:t>Context-level (Level 0) view. Module-level breakdown is on slides 13 and 14.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1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Request intake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Request arrives from an app or user; input is checked.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3063240"/>
            <a:ext cx="219455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9464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2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Auth and policy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Caller and organisation identified; policy applied.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42231" y="3063240"/>
            <a:ext cx="219457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3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Memory matching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Organisation-scoped search for a similar verified response.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2744" y="3063240"/>
            <a:ext cx="219456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0488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4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LLM routing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Cache miss sent to the selected provider.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63255" y="3063240"/>
            <a:ext cx="219456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5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Validation and analytics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Response validated; usage, latency and cost recorded.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3767" y="3063240"/>
            <a:ext cx="219457" cy="0"/>
          </a:xfrm>
          <a:prstGeom prst="line">
            <a:avLst/>
          </a:prstGeom>
          <a:ln w="2222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11512" y="1828800"/>
            <a:ext cx="1554480" cy="2468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marL="0" indent="0" algn="ctr">
              <a:buNone/>
            </a:pPr>
            <a:r>
              <a:rPr lang="en-IN" sz="2200" dirty="0">
                <a:solidFill>
                  <a:srgbClr val="CC0000"/>
                </a:solidFill>
              </a:rPr>
              <a:t>6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1300" b="1" dirty="0">
                <a:solidFill>
                  <a:srgbClr val="193054"/>
                </a:solidFill>
              </a:rPr>
              <a:t>Store and deliver</a:t>
            </a:r>
          </a:p>
          <a:p>
            <a:pPr marL="0" indent="0" algn="ctr">
              <a:buNone/>
            </a:pPr>
            <a:r>
              <a:rPr lang="en-IN" sz="1100" dirty="0">
                <a:solidFill>
                  <a:srgbClr val="2D343E"/>
                </a:solidFill>
              </a:rPr>
              <a:t>Verified response stored for reuse; reply returned.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526280"/>
            <a:ext cx="10671048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193054"/>
                </a:solidFill>
              </a:rPr>
              <a:t>Memory hit: </a:t>
            </a:r>
            <a:r>
              <a:rPr lang="en-IN" sz="1600" dirty="0">
                <a:solidFill>
                  <a:srgbClr val="2D343E"/>
                </a:solidFill>
              </a:rPr>
              <a:t>step 3 returns the stored verified response and skips step 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120640"/>
            <a:ext cx="10671048" cy="7315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marL="0" indent="0" algn="ctr">
              <a:buNone/>
            </a:pPr>
            <a:r>
              <a:rPr lang="en-IN" sz="1500" b="1" dirty="0">
                <a:solidFill>
                  <a:srgbClr val="193054"/>
                </a:solidFill>
              </a:rPr>
              <a:t>Project phases: </a:t>
            </a:r>
            <a:r>
              <a:rPr lang="en-IN" sz="1500" dirty="0">
                <a:solidFill>
                  <a:srgbClr val="2D343E"/>
                </a:solidFill>
              </a:rPr>
              <a:t>Literature survey (done), Design (done), Implementation (done), Testing (pending), Evaluation (pending)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IN" sz="1600" i="1" dirty="0">
                <a:solidFill>
                  <a:srgbClr val="5A6470"/>
                </a:solidFill>
              </a:rPr>
              <a:t>Programming languages, frameworks, software, hardware, and datasets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Programming language(s): </a:t>
            </a:r>
            <a:r>
              <a:rPr lang="en-IN" sz="1800" dirty="0">
                <a:solidFill>
                  <a:srgbClr val="2D343E"/>
                </a:solidFill>
              </a:rPr>
              <a:t>Python 3.13+ for backend and gateway logic.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Frameworks / libraries: </a:t>
            </a:r>
            <a:r>
              <a:rPr lang="en-IN" sz="1800" dirty="0">
                <a:solidFill>
                  <a:srgbClr val="2D343E"/>
                </a:solidFill>
              </a:rPr>
              <a:t>Django and Django REST Framework (API layer); React.js with Bun (dashboard UI).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Software / hardware / dataset: </a:t>
            </a:r>
            <a:r>
              <a:rPr lang="en-IN" sz="1800" dirty="0">
                <a:solidFill>
                  <a:srgbClr val="2D343E"/>
                </a:solidFill>
              </a:rPr>
              <a:t>Windows 11; PostgreSQL or SQLite (final choice pending); Postman; Git and GitHub; OpenAI, Gemini and Claude APIs. Hardware: Intel Core i5 or above, 8 GB RAM, 256 GB SSD, stable internet. No training dataset; the system routes live requests.</a:t>
            </a:r>
          </a:p>
          <a:p>
            <a:pPr marL="342900" indent="-342900">
              <a:spcAft>
                <a:spcPts val="10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Why these: </a:t>
            </a:r>
            <a:r>
              <a:rPr lang="en-IN" sz="1800" dirty="0">
                <a:solidFill>
                  <a:srgbClr val="2D343E"/>
                </a:solidFill>
              </a:rPr>
              <a:t>Python and Django give fast, secure API development with built-in authentication. DRF provides the REST endpoints. React suits the dashboard. PostgreSQL handles multi-tenant data at scale; SQLite is for development. Postman tests endpoints; Git supports teamwork.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7104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5001768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500" dirty="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1. Authentication &amp; Organisation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Authenticate users or applications; resolve organisation; apply access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2. Enterprise Memory Intelligence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Find similar verified responses; decide reuse; manage stored entries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3. AI Gateway &amp; Provider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Route cache misses to OpenAI, Gemini or Claude; handle responses and errors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4. Audit Logging &amp; Usage Analytics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Record request outcomes and usage; aggregate activity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5. Governance, Cost Monitoring &amp; 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Show cost-oriented views and central governance controls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solidFill>
                            <a:srgbClr val="2D343E"/>
                          </a:solidFill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5257800"/>
            <a:ext cx="10671048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200" i="1" dirty="0">
                <a:solidFill>
                  <a:srgbClr val="5A6470"/>
                </a:solidFill>
              </a:rPr>
              <a:t>Implementation complete; testing not yet recorded.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Modules 1 and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1: Authentication &amp; Organisation Management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verify each caller and its organisation; apply access rules.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credentials or access context in; authenticated identity and organisation scope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2: Enterprise Memory Intelligence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find a similar verified response and decide whether it can be reused.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validated request and organisation context in; match decision and reusable response, or cache miss, out.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Approach: </a:t>
            </a:r>
            <a:r>
              <a:rPr lang="en-IN" sz="1800" dirty="0">
                <a:solidFill>
                  <a:srgbClr val="2D343E"/>
                </a:solidFill>
              </a:rPr>
              <a:t>search only the caller's organisation; reuse only verified, fresh entries; keep verification metadata with each entry.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Status: </a:t>
            </a:r>
            <a:r>
              <a:rPr lang="en-IN" sz="1800" dirty="0">
                <a:solidFill>
                  <a:srgbClr val="2D343E"/>
                </a:solidFill>
              </a:rPr>
              <a:t>implementation completed. Planned tests: denied access, tenant isolation, hit and miss accuracy.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Modules 3 to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3: AI Gateway &amp; Provider Management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route cache misses to the selected LLM (OpenAI, Gemini or Claude); handle responses and errors.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eligible request and provider choice in; provider response or error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4: Audit Logging &amp; Usage Analytics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record outcome, provider, timing and usage for each request; aggregate activity.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gateway events in; audit entries and analytics data out.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2000" b="1" dirty="0">
                <a:solidFill>
                  <a:srgbClr val="193054"/>
                </a:solidFill>
              </a:rPr>
              <a:t>Module 5: Governance, Cost Monitoring &amp; Dashboard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Purpose: </a:t>
            </a:r>
            <a:r>
              <a:rPr lang="en-IN" sz="1800" dirty="0">
                <a:solidFill>
                  <a:srgbClr val="2D343E"/>
                </a:solidFill>
              </a:rPr>
              <a:t>show cost-oriented views and central management controls.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Input / output: </a:t>
            </a:r>
            <a:r>
              <a:rPr lang="en-IN" sz="1800" dirty="0">
                <a:solidFill>
                  <a:srgbClr val="2D343E"/>
                </a:solidFill>
              </a:rPr>
              <a:t>usage and audit aggregates in; dashboard views out.</a:t>
            </a:r>
          </a:p>
          <a:p>
            <a:pPr marL="342900" indent="-342900"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b="1" dirty="0">
                <a:solidFill>
                  <a:srgbClr val="2D343E"/>
                </a:solidFill>
              </a:rPr>
              <a:t>Status: </a:t>
            </a:r>
            <a:r>
              <a:rPr lang="en-IN" sz="1800" dirty="0">
                <a:solidFill>
                  <a:srgbClr val="2D343E"/>
                </a:solidFill>
              </a:rPr>
              <a:t>implementation completed; no test observations yet.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10671048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500" b="1" dirty="0">
                <a:solidFill>
                  <a:srgbClr val="CC0000"/>
                </a:solidFill>
              </a:rPr>
              <a:t>No measured results yet. </a:t>
            </a:r>
            <a:r>
              <a:rPr lang="en-IN" sz="1500" dirty="0">
                <a:solidFill>
                  <a:srgbClr val="2D343E"/>
                </a:solidFill>
              </a:rPr>
              <a:t>Testing was pending at Review 1. Each row shows how the result will be measured.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" y="2240280"/>
          <a:ext cx="10671048" cy="3127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5029200"/>
                <a:gridCol w="2990088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How it will be measured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300" dirty="0" b="1">
                          <a:solidFill>
                            <a:srgbClr val="FFFFFF"/>
                          </a:solidFill>
                        </a:rPr>
                        <a:t>Evidence so far</a:t>
                      </a:r>
                    </a:p>
                  </a:txBody>
                  <a:tcPr marL="73152" marR="73152" marT="36576" marB="36576" anchor="ctr">
                    <a:solidFill>
                      <a:srgbClr val="2A67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Memory reuse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Submit repeated and similar prompts; compute memory-hit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Design only; no hit rate yet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Provider-call reduction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Compare call counts with memory on and off, same test set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benefit; no counts yet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Response latency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Time cache hits against provider responses, same environment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faster repeats; no values yet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Token and cost impact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Collect provider usage; apply a stated price basis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Expected reduction; no totals yet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Response suitability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Check that a hit is relevant and passes verification policy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Policy not yet specified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Security and tenant isolation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Test denied access, organisation boundaries, prompt risks, audit completeness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solidFill>
                            <a:srgbClr val="2D343E"/>
                          </a:solidFill>
                        </a:rPr>
                        <a:t>Identified; testing pending</a:t>
                      </a:r>
                    </a:p>
                  </a:txBody>
                  <a:tcPr marL="73152" marR="73152" marT="36576" marB="36576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" y="5394960"/>
            <a:ext cx="10671048" cy="685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rgbClr val="193054"/>
                </a:solidFill>
              </a:rPr>
              <a:t>Discussion: </a:t>
            </a:r>
            <a:r>
              <a:rPr lang="en-IN" sz="1400" dirty="0">
                <a:solidFill>
                  <a:srgbClr val="2D343E"/>
                </a:solidFill>
              </a:rPr>
              <a:t>a false or stale match harms answer quality, and a lookup that ignores organisation scope can leak data. Speed and cost tests must be paired with correctness and security tests.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IN" sz="2000" b="1" dirty="0">
                <a:solidFill>
                  <a:srgbClr val="CC0000"/>
                </a:solidFill>
              </a:rPr>
              <a:t>Screenshots pending. </a:t>
            </a:r>
            <a:r>
              <a:rPr lang="en-IN" sz="2000" dirty="0">
                <a:solidFill>
                  <a:srgbClr val="2D343E"/>
                </a:solidFill>
              </a:rPr>
              <a:t>Implementation is complete. Screenshots of the working application are still to be captured.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1800" b="1" dirty="0">
                <a:solidFill>
                  <a:srgbClr val="193054"/>
                </a:solidFill>
              </a:rPr>
              <a:t>Planned views to capture: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Organisation dashboard: usage and activity at organisation level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Cost and analytics view: request counts, tokens, estimated cost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Memory view: memory hit and miss outcomes</a:t>
            </a:r>
          </a:p>
          <a:p>
            <a:pPr marL="342900" indent="-342900">
              <a:spcAft>
                <a:spcPts val="6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Audit log view: request outcome, provider, timing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1800" dirty="0">
                <a:solidFill>
                  <a:srgbClr val="2D343E"/>
                </a:solidFill>
              </a:rPr>
              <a:t>Organisation and user management</a:t>
            </a:r>
          </a:p>
          <a:p>
            <a:pPr marL="0" indent="0">
              <a:buNone/>
            </a:pPr>
            <a:r>
              <a:rPr lang="en-IN" sz="1600" i="1" dirty="0">
                <a:solidFill>
                  <a:srgbClr val="5A6470"/>
                </a:solidFill>
              </a:rPr>
              <a:t>Each screenshot will carry a short caption stating what it shows.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6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Test the implemented gateway: functional, access-control and integration tests</a:t>
            </a:r>
          </a:p>
          <a:p>
            <a:pPr marL="457200" indent="-457200">
              <a:spcAft>
                <a:spcPts val="6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Define memory matching, similarity threshold, verification, freshness and invalidation rules</a:t>
            </a:r>
          </a:p>
          <a:p>
            <a:pPr marL="457200" indent="-457200">
              <a:spcAft>
                <a:spcPts val="6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Implement and test organisation isolation for memory and analytics</a:t>
            </a:r>
          </a:p>
          <a:p>
            <a:pPr marL="457200" indent="-457200">
              <a:spcAft>
                <a:spcPts val="6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Run controlled baseline comparisons: API calls, hit rate, latency, tokens, cost</a:t>
            </a:r>
          </a:p>
          <a:p>
            <a:pPr marL="457200" indent="-457200">
              <a:spcAft>
                <a:spcPts val="6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Evaluate prompt-injection handling, provider failures, access control and audit completeness</a:t>
            </a:r>
          </a:p>
          <a:p>
            <a:pPr marL="457200" indent="-457200">
              <a:spcAft>
                <a:spcPts val="12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IN" sz="1800" dirty="0">
                <a:solidFill>
                  <a:srgbClr val="2D343E"/>
                </a:solidFill>
              </a:rPr>
              <a:t>Complete final documentation; record limitations alongside successful tests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1600" b="1" dirty="0">
                <a:solidFill>
                  <a:srgbClr val="193054"/>
                </a:solidFill>
              </a:rPr>
              <a:t>Schedule from Review 1: </a:t>
            </a:r>
            <a:r>
              <a:rPr lang="en-IN" sz="1600" dirty="0">
                <a:solidFill>
                  <a:srgbClr val="2D343E"/>
                </a:solidFill>
              </a:rPr>
              <a:t>implementation in Months 2 to 3; testing and evaluation in Months 3 to 4.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193054"/>
                </a:solidFill>
              </a:rPr>
              <a:t>Key risks: </a:t>
            </a:r>
            <a:r>
              <a:rPr lang="en-IN" sz="1600" dirty="0">
                <a:solidFill>
                  <a:srgbClr val="2D343E"/>
                </a:solidFill>
              </a:rPr>
              <a:t>false or stale memory matches; cross-organisation leakage; prompt injection.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[1] Lewis, P., et al. (2020). "Retrieval-Augmented Generation for Knowledge-Intensive NLP Tasks." NeurIPS 2020.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[2] Willison, S. (2023). "Prompt Injection Attacks Against Large Language Models." Personal Blog / ACL Workshop.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[3] Chase, H. (2023). "LangChain: Building LLM Applications." GitHub / LangChain Documentation.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[4] OpenAI. (2023). "GPT-4 Technical Report." arXiv:2303.08774.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500" dirty="0">
                <a:solidFill>
                  <a:srgbClr val="2D343E"/>
                </a:solidFill>
              </a:rPr>
              <a:t>[5] Anthropic. (2022). "Constitutional AI: Harmlessness from AI Feedback." arXiv:2212.08073.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2D343E"/>
                </a:solidFill>
              </a:rPr>
              <a:t>Context. </a:t>
            </a:r>
            <a:r>
              <a:rPr lang="en-IN" sz="2000" dirty="0">
                <a:solidFill>
                  <a:srgbClr val="2D343E"/>
                </a:solidFill>
              </a:rPr>
              <a:t>Enterprise apps call LLM providers (OpenAI, Gemini, Claude) directly. Repeated prompts add API calls, tokens and cost.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2D343E"/>
                </a:solidFill>
              </a:rPr>
              <a:t>Gap. </a:t>
            </a:r>
            <a:r>
              <a:rPr lang="en-IN" sz="2000" dirty="0">
                <a:solidFill>
                  <a:srgbClr val="2D343E"/>
                </a:solidFill>
              </a:rPr>
              <a:t>No single layer for authentication, governance, usage monitoring or audit logs across applications.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2D343E"/>
                </a:solidFill>
              </a:rPr>
              <a:t>Proposal. </a:t>
            </a:r>
            <a:r>
              <a:rPr lang="en-IN" sz="2000" dirty="0">
                <a:solidFill>
                  <a:srgbClr val="2D343E"/>
                </a:solidFill>
              </a:rPr>
              <a:t>SentinelAI, an enterprise AI gateway. Its Enterprise Memory Intelligence (EMI) returns stored verified responses before any LLM call.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2D343E"/>
                </a:solidFill>
              </a:rPr>
              <a:t>Stack. </a:t>
            </a:r>
            <a:r>
              <a:rPr lang="en-IN" sz="2000" dirty="0">
                <a:solidFill>
                  <a:srgbClr val="2D343E"/>
                </a:solidFill>
              </a:rPr>
              <a:t>Python 3.13+, Django, Django REST Framework, React.js / Bun; PostgreSQL or SQLite.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2D343E"/>
                </a:solidFill>
              </a:rPr>
              <a:t>Status. </a:t>
            </a:r>
            <a:r>
              <a:rPr lang="en-IN" sz="2000" dirty="0">
                <a:solidFill>
                  <a:srgbClr val="2D343E"/>
                </a:solidFill>
              </a:rPr>
              <a:t>Literature, problem, methodology, architecture, modules and implementation done. Testing and evaluation pending; gains not yet measured.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dirty="0">
                <a:solidFill>
                  <a:srgbClr val="2D343E"/>
                </a:solidFill>
              </a:rPr>
              <a:t>SentinelAI is a centralised gateway for LLM apps: authentication, organisations, policy, routing, audit, analytics and cost monitoring.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dirty="0">
                <a:solidFill>
                  <a:srgbClr val="2D343E"/>
                </a:solidFill>
              </a:rPr>
              <a:t>Main contribution: Enterprise Memory Intelligence reuses verified responses, cutting redundant calls.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dirty="0">
                <a:solidFill>
                  <a:srgbClr val="2D343E"/>
                </a:solidFill>
              </a:rPr>
              <a:t>Literature, problem, methodology, architecture and five modules done. Implementation completed; testing and evaluation pending.</a:t>
            </a:r>
          </a:p>
          <a:p>
            <a:pPr marL="342900" indent="-342900">
              <a:spcAft>
                <a:spcPts val="1200"/>
              </a:spcAft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dirty="0">
                <a:solidFill>
                  <a:srgbClr val="2D343E"/>
                </a:solidFill>
              </a:rPr>
              <a:t>Cost, token, latency and consistency gains are expected. They are not yet measured.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